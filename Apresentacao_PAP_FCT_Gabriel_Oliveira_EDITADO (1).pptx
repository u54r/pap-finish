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  <p:sldMasterId id="2147483661" r:id="rId5"/>
  </p:sldMasterIdLst>
  <p:notesMasterIdLst>
    <p:notesMasterId r:id="rId33"/>
  </p:notesMasterIdLst>
  <p:handoutMasterIdLst>
    <p:handoutMasterId r:id="rId34"/>
  </p:handoutMasterIdLst>
  <p:sldIdLst>
    <p:sldId id="281" r:id="rId6"/>
    <p:sldId id="374" r:id="rId7"/>
    <p:sldId id="353" r:id="rId8"/>
    <p:sldId id="378" r:id="rId9"/>
    <p:sldId id="385" r:id="rId10"/>
    <p:sldId id="384" r:id="rId11"/>
    <p:sldId id="375" r:id="rId12"/>
    <p:sldId id="376" r:id="rId13"/>
    <p:sldId id="391" r:id="rId14"/>
    <p:sldId id="390" r:id="rId15"/>
    <p:sldId id="377" r:id="rId16"/>
    <p:sldId id="362" r:id="rId17"/>
    <p:sldId id="379" r:id="rId18"/>
    <p:sldId id="387" r:id="rId19"/>
    <p:sldId id="388" r:id="rId20"/>
    <p:sldId id="389" r:id="rId21"/>
    <p:sldId id="386" r:id="rId22"/>
    <p:sldId id="380" r:id="rId23"/>
    <p:sldId id="371" r:id="rId24"/>
    <p:sldId id="392" r:id="rId25"/>
    <p:sldId id="364" r:id="rId26"/>
    <p:sldId id="381" r:id="rId27"/>
    <p:sldId id="382" r:id="rId28"/>
    <p:sldId id="383" r:id="rId29"/>
    <p:sldId id="370" r:id="rId30"/>
    <p:sldId id="372" r:id="rId31"/>
    <p:sldId id="359" r:id="rId32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0CC"/>
    <a:srgbClr val="2EB0CE"/>
    <a:srgbClr val="2EB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878E9-942B-6E89-FBFF-628A66FA1EAB}" v="81" dt="2026-06-26T15:52:14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36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8" d="100"/>
          <a:sy n="88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6053B59-8ED2-441F-93B7-B3AA3F88F5B7}" type="datetime1">
              <a:rPr lang="en-GB" smtClean="0"/>
              <a:t>26/06/2026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220F6-ADC4-4852-80CE-BF89F4F41C83}" type="datetime1">
              <a:rPr lang="en-GB" smtClean="0"/>
              <a:pPr/>
              <a:t>26/06/2026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FAAAB6-A2C6-4A85-A3A1-98EFBA61C967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i="0">
              <a:effectLst/>
              <a:latin typeface="Segoe UI" panose="020B0502040204020203" pitchFamily="34" charset="0"/>
            </a:endParaRPr>
          </a:p>
          <a:p>
            <a:pPr rtl="0"/>
            <a:r>
              <a:rPr lang="en-GB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454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71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75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81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066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180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546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de subtítulo do Modelo Global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5662B970-0003-4BE1-94D3-ED7D89AF29DB}" type="datetime1">
              <a:rPr lang="pt-PT" noProof="0" smtClean="0"/>
              <a:t>26/06/2026</a:t>
            </a:fld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/>
            </a:lvl1pPr>
          </a:lstStyle>
          <a:p>
            <a:fld id="{596DB2A4-1CA4-4AD8-8B98-3984833D6483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/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/>
          <a:p>
            <a:pPr rtl="0"/>
            <a:fld id="{A61DF94C-D91D-4EC7-95F8-547FFAEB4B18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110745" y="418972"/>
            <a:ext cx="156607" cy="595391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160" y="402744"/>
            <a:ext cx="11354004" cy="635084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 dirty="0"/>
              <a:t>Clique para editar os estilos do texto de Modelo Global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62A17A53-D6C9-4E50-9690-89CAA50BFD9D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 noProof="0"/>
              <a:t>Name</a:t>
            </a:r>
          </a:p>
          <a:p>
            <a:pPr lvl="1" rtl="0"/>
            <a:r>
              <a:rPr lang="en-GB" noProof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 noProof="0"/>
              <a:t>Name</a:t>
            </a:r>
          </a:p>
          <a:p>
            <a:pPr lvl="1" rtl="0"/>
            <a:r>
              <a:rPr lang="en-GB" noProof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 noProof="0"/>
              <a:t>Name</a:t>
            </a:r>
          </a:p>
          <a:p>
            <a:pPr lvl="1" rtl="0"/>
            <a:r>
              <a:rPr lang="en-GB" noProof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 noProof="0"/>
              <a:t>Name</a:t>
            </a:r>
          </a:p>
          <a:p>
            <a:pPr lvl="1" rtl="0"/>
            <a:r>
              <a:rPr lang="en-GB" noProof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n-GB" noProof="0"/>
              <a:t>Name</a:t>
            </a:r>
          </a:p>
          <a:p>
            <a:pPr lvl="1" rtl="0"/>
            <a:r>
              <a:rPr lang="en-GB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81AE3AFE-BBDA-4AE0-A80D-49036CAB10D1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F322F81A-6ACE-450D-BC42-323BF284C07D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A5035AFA-3DB5-4648-B405-FDB16C80B47B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fld id="{FF16071B-9C78-4F52-9487-3DBAD25B49AB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D75B09-E86C-4654-A220-450D898D3C99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454667-FC73-4662-9EFB-8B258B00B8DE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fld id="{99DCB5BC-7C24-445B-A0C9-C2A8E5720DFA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fld id="{56EE29AB-456F-4EAB-B16E-917EFABB318C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502920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5029200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88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 noProof="0"/>
              <a:t>Clique para editar o estilo de título do Modelo Global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4497644-C8EE-44AB-AE41-E2D3AA053DB3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en-GB" noProof="0" smtClean="0"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F8249-AFD8-402A-B7BB-DD2076357026}" type="datetime1">
              <a:rPr lang="pt-PT" smtClean="0"/>
              <a:t>26/06/2026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60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892" y="1680157"/>
            <a:ext cx="8586216" cy="2176272"/>
          </a:xfrm>
        </p:spPr>
        <p:txBody>
          <a:bodyPr rtlCol="0">
            <a:normAutofit/>
          </a:bodyPr>
          <a:lstStyle/>
          <a:p>
            <a:r>
              <a:rPr lang="pt-PT" sz="3600" dirty="0">
                <a:latin typeface="Arial"/>
              </a:rPr>
              <a:t>Curso Técnico de Informática de Gestão</a:t>
            </a:r>
            <a:br>
              <a:rPr lang="pt-PT" sz="3600" dirty="0"/>
            </a:br>
            <a:r>
              <a:rPr lang="pt-PT" sz="3600" dirty="0">
                <a:latin typeface="Arial"/>
              </a:rPr>
              <a:t>Prova de Aptidão Profissional (PAP)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rgbClr val="2EB0CC"/>
          </a:solidFill>
        </p:spPr>
        <p:txBody>
          <a:bodyPr rtlCol="0">
            <a:normAutofit/>
          </a:bodyPr>
          <a:lstStyle/>
          <a:p>
            <a:pPr rtl="0"/>
            <a:r>
              <a:rPr lang="pt-PT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EventHub</a:t>
            </a:r>
            <a:endParaRPr lang="pt-PT" sz="3200" dirty="0"/>
          </a:p>
        </p:txBody>
      </p:sp>
      <p:pic>
        <p:nvPicPr>
          <p:cNvPr id="4" name="Online Image Placeholder 23" descr="User">
            <a:extLst>
              <a:ext uri="{FF2B5EF4-FFF2-40B4-BE49-F238E27FC236}">
                <a16:creationId xmlns:a16="http://schemas.microsoft.com/office/drawing/2014/main" id="{8DBD1591-20A5-1215-3A31-AADAA8A02AE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55171" y="5631725"/>
            <a:ext cx="457200" cy="4572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258B992-5F42-7AD8-FCAB-934551917E90}"/>
              </a:ext>
            </a:extLst>
          </p:cNvPr>
          <p:cNvSpPr txBox="1">
            <a:spLocks/>
          </p:cNvSpPr>
          <p:nvPr/>
        </p:nvSpPr>
        <p:spPr>
          <a:xfrm>
            <a:off x="8612371" y="5731903"/>
            <a:ext cx="3248245" cy="44767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PT" sz="1600" dirty="0">
                <a:latin typeface="Arial"/>
              </a:rPr>
              <a:t>Gabriel Oliveira</a:t>
            </a:r>
            <a:endParaRPr lang="en-GB" sz="1600" dirty="0"/>
          </a:p>
        </p:txBody>
      </p:sp>
      <p:pic>
        <p:nvPicPr>
          <p:cNvPr id="6" name="Online Image Placeholder 27" descr="Envelope">
            <a:extLst>
              <a:ext uri="{FF2B5EF4-FFF2-40B4-BE49-F238E27FC236}">
                <a16:creationId xmlns:a16="http://schemas.microsoft.com/office/drawing/2014/main" id="{4FC0F05B-6F1E-2078-18EC-31AE1C33C42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155171" y="6270232"/>
            <a:ext cx="457200" cy="45720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EA64895-BC23-F3D0-FC6A-2E9161049C3D}"/>
              </a:ext>
            </a:extLst>
          </p:cNvPr>
          <p:cNvSpPr txBox="1">
            <a:spLocks/>
          </p:cNvSpPr>
          <p:nvPr/>
        </p:nvSpPr>
        <p:spPr>
          <a:xfrm>
            <a:off x="8612371" y="6364818"/>
            <a:ext cx="3370521" cy="44767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latin typeface="Arial"/>
              </a:rPr>
              <a:t>Ba2604@alunos.epbjc.pt</a:t>
            </a:r>
            <a:endParaRPr lang="en-GB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D997B15-900E-C2ED-679A-C959EFAF3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0" y="130568"/>
            <a:ext cx="2692400" cy="5969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C97B12-92F7-4317-91AF-C0EDB5E8070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8" y="6179578"/>
            <a:ext cx="367474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H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txBody>
          <a:bodyPr anchor="ctr">
            <a:normAutofit/>
          </a:bodyPr>
          <a:lstStyle/>
          <a:p>
            <a:pPr marL="500000" algn="l"/>
            <a:r>
              <a:rPr lang="pt-PT" sz="2800" b="1" dirty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201" name="NK201"/>
          <p:cNvSpPr/>
          <p:nvPr/>
        </p:nvSpPr>
        <p:spPr>
          <a:xfrm>
            <a:off x="351759" y="1728905"/>
            <a:ext cx="2600000" cy="2300000"/>
          </a:xfrm>
          <a:prstGeom prst="roundRect">
            <a:avLst>
              <a:gd name="adj" fmla="val 15000"/>
            </a:avLst>
          </a:prstGeom>
          <a:solidFill>
            <a:srgbClr val="2EB0CC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/>
              </a:rPr>
              <a:t>Introdução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FCT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PAP</a:t>
            </a:r>
          </a:p>
        </p:txBody>
      </p:sp>
      <p:sp>
        <p:nvSpPr>
          <p:cNvPr id="202" name="NK202"/>
          <p:cNvSpPr/>
          <p:nvPr/>
        </p:nvSpPr>
        <p:spPr>
          <a:xfrm>
            <a:off x="3151759" y="1728905"/>
            <a:ext cx="2600000" cy="2300000"/>
          </a:xfrm>
          <a:prstGeom prst="roundRect">
            <a:avLst>
              <a:gd name="adj" fmla="val 15000"/>
            </a:avLst>
          </a:prstGeom>
          <a:solidFill>
            <a:srgbClr val="1A8FA8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/>
              </a:rPr>
              <a:t>FCT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Caraterização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Tarefas Realizadas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Reflexão</a:t>
            </a:r>
          </a:p>
        </p:txBody>
      </p:sp>
      <p:sp>
        <p:nvSpPr>
          <p:cNvPr id="203" name="NK203"/>
          <p:cNvSpPr/>
          <p:nvPr/>
        </p:nvSpPr>
        <p:spPr>
          <a:xfrm>
            <a:off x="5951759" y="1728905"/>
            <a:ext cx="3200000" cy="2300000"/>
          </a:xfrm>
          <a:prstGeom prst="roundRect">
            <a:avLst>
              <a:gd name="adj" fmla="val 15000"/>
            </a:avLst>
          </a:prstGeom>
          <a:solidFill>
            <a:srgbClr val="0E6A8A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/>
              </a:rPr>
              <a:t>Projeto PAP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Fundamentação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Finalidades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Enquadramento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Ferramentas e Etapas</a:t>
            </a:r>
          </a:p>
        </p:txBody>
      </p:sp>
      <p:sp>
        <p:nvSpPr>
          <p:cNvPr id="204" name="NK204"/>
          <p:cNvSpPr/>
          <p:nvPr/>
        </p:nvSpPr>
        <p:spPr>
          <a:xfrm>
            <a:off x="9351759" y="1728905"/>
            <a:ext cx="2600000" cy="2300000"/>
          </a:xfrm>
          <a:prstGeom prst="roundRect">
            <a:avLst>
              <a:gd name="adj" fmla="val 15000"/>
            </a:avLst>
          </a:prstGeom>
          <a:solidFill>
            <a:srgbClr val="085A75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/>
              </a:rPr>
              <a:t>Conclusão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Dificuldades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Problemas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/>
              </a:rPr>
              <a:t>• Soluções</a:t>
            </a:r>
          </a:p>
        </p:txBody>
      </p:sp>
      <p:sp>
        <p:nvSpPr>
          <p:cNvPr id="205" name="NK205"/>
          <p:cNvSpPr/>
          <p:nvPr/>
        </p:nvSpPr>
        <p:spPr>
          <a:xfrm>
            <a:off x="351759" y="4198905"/>
            <a:ext cx="5800000" cy="1900000"/>
          </a:xfrm>
          <a:prstGeom prst="roundRect">
            <a:avLst>
              <a:gd name="adj" fmla="val 15000"/>
            </a:avLst>
          </a:prstGeom>
          <a:solidFill>
            <a:srgbClr val="126E8A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Recursos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Agradecimentos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Bibliografia</a:t>
            </a:r>
          </a:p>
        </p:txBody>
      </p:sp>
      <p:sp>
        <p:nvSpPr>
          <p:cNvPr id="206" name="NK206"/>
          <p:cNvSpPr/>
          <p:nvPr/>
        </p:nvSpPr>
        <p:spPr>
          <a:xfrm>
            <a:off x="6351759" y="4198905"/>
            <a:ext cx="5600000" cy="1900000"/>
          </a:xfrm>
          <a:prstGeom prst="roundRect">
            <a:avLst>
              <a:gd name="adj" fmla="val 15000"/>
            </a:avLst>
          </a:prstGeom>
          <a:solidFill>
            <a:srgbClr val="0C5468"/>
          </a:solidFill>
          <a:ln>
            <a:noFill/>
          </a:ln>
        </p:spPr>
        <p:txBody>
          <a:bodyPr vertOverflow="clip" wrap="square">
            <a:normAutofit/>
          </a:bodyPr>
          <a:lstStyle/>
          <a:p>
            <a:pPr marL="300000" marR="200000">
              <a:spcBef>
                <a:spcPts val="200"/>
              </a:spcBef>
            </a:pPr>
            <a:r>
              <a:rPr lang="pt-PT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  <a:p>
            <a:pPr marL="300000" marR="200000">
              <a:spcBef>
                <a:spcPts val="150"/>
              </a:spcBef>
            </a:pPr>
            <a:r>
              <a:rPr lang="pt-PT" dirty="0">
                <a:solidFill>
                  <a:srgbClr val="DBED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Slide final de encerramento</a:t>
            </a:r>
          </a:p>
        </p:txBody>
      </p:sp>
    </p:spTree>
    <p:extLst>
      <p:ext uri="{BB962C8B-B14F-4D97-AF65-F5344CB8AC3E}">
        <p14:creationId xmlns:p14="http://schemas.microsoft.com/office/powerpoint/2010/main" val="225000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>
                <a:latin typeface="Arial"/>
              </a:rPr>
              <a:t>Introdução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7"/>
            <a:ext cx="2688336" cy="720000"/>
          </a:xfrm>
          <a:solidFill>
            <a:srgbClr val="2EB0CC"/>
          </a:solidFill>
        </p:spPr>
        <p:txBody>
          <a:bodyPr rtlCol="0">
            <a:normAutofit/>
          </a:bodyPr>
          <a:lstStyle/>
          <a:p>
            <a:pPr rtl="0"/>
            <a:r>
              <a:rPr lang="pt-PT" sz="2400" dirty="0">
                <a:latin typeface="Arial"/>
              </a:rPr>
              <a:t>FCT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FB35D4-CA1C-E365-1F6A-8DE805D6A902}"/>
              </a:ext>
            </a:extLst>
          </p:cNvPr>
          <p:cNvSpPr txBox="1">
            <a:spLocks/>
          </p:cNvSpPr>
          <p:nvPr/>
        </p:nvSpPr>
        <p:spPr>
          <a:xfrm>
            <a:off x="8613648" y="2712674"/>
            <a:ext cx="2688336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dirty="0">
                <a:solidFill>
                  <a:schemeClr val="tx1"/>
                </a:solidFill>
                <a:latin typeface="Arial"/>
              </a:rPr>
              <a:t>Projeto PAP</a:t>
            </a: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Introdução |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 FCT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4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342900" indent="-342900">
              <a:buNone/>
            </a:pPr>
            <a:r>
              <a:rPr lang="pt-PT" sz="2400" b="1" dirty="0">
                <a:latin typeface="Arial"/>
              </a:rPr>
              <a:t>Formação em Contexto de Trabalho — AGSE, I.P.</a:t>
            </a:r>
          </a:p>
          <a:p>
            <a:pPr marL="342900" indent="-342900">
              <a:buNone/>
            </a:pPr>
            <a:endParaRPr lang="pt-PT" sz="24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Período: 27 de abril a 21 de junho de 2026 (8 semanas)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Local: Agência de Gestão do Sistema Educativo (Lisboa)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Tutora de Estágio: Dra. Rita Sereno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Orientador: Prof. Pedro Gonçalves</a:t>
            </a:r>
          </a:p>
          <a:p>
            <a:pPr marL="342900" indent="-342900">
              <a:buNone/>
            </a:pPr>
            <a:endParaRPr lang="pt-PT" dirty="0"/>
          </a:p>
          <a:p>
            <a:pPr marL="342900" indent="-342900">
              <a:buNone/>
            </a:pPr>
            <a:r>
              <a:rPr lang="pt-PT" b="1" dirty="0">
                <a:latin typeface="Arial"/>
              </a:rPr>
              <a:t>Áreas de trabalho durante a FCT: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Tratamento de dados e normalização documental (plataforma AGIR)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Análise de dados em Excel e elaboração de relatórios estratégicos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Automação de processos com Microsoft Power Automate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Elaboração de queries SQL na plataforma AGIR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Reestruturação do site institucional AGSE/CTE</a:t>
            </a:r>
          </a:p>
        </p:txBody>
      </p:sp>
    </p:spTree>
    <p:extLst>
      <p:ext uri="{BB962C8B-B14F-4D97-AF65-F5344CB8AC3E}">
        <p14:creationId xmlns:p14="http://schemas.microsoft.com/office/powerpoint/2010/main" val="155834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Introdução |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 PAP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5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342900" indent="-342900">
              <a:buNone/>
            </a:pPr>
            <a:r>
              <a:rPr lang="pt-PT" sz="3000" b="1" dirty="0">
                <a:latin typeface="Arial"/>
              </a:rPr>
              <a:t>EventHub — Plataforma Web de Gestão de Eventos</a:t>
            </a:r>
          </a:p>
          <a:p>
            <a:pPr marL="342900" indent="-342900">
              <a:buNone/>
            </a:pPr>
            <a:endParaRPr lang="pt-PT" sz="20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Plataforma full-stack em HTML, CSS, JavaScript, PHP e MySQL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5 perfis de utilizador: Administrador, Organizador, Staff, Cliente e Convidado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13 módulos funcionais no dashboard do organizador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Sistema RSVP com convites por email e token único de acesso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QR Codes únicos de check-in por convidado por evento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4 temas visuais na página do convidado (Classic, Modern, Elegant, Rustic)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Planta de mesas drag-and-drop interativa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Autenticação local (SHA-256) + Google OAuth 2.0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2400" dirty="0">
                <a:latin typeface="Arial"/>
              </a:rPr>
              <a:t>Interface bilingue Português/Inglês (PT/EN)</a:t>
            </a:r>
          </a:p>
        </p:txBody>
      </p:sp>
    </p:spTree>
    <p:extLst>
      <p:ext uri="{BB962C8B-B14F-4D97-AF65-F5344CB8AC3E}">
        <p14:creationId xmlns:p14="http://schemas.microsoft.com/office/powerpoint/2010/main" val="320696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>
                <a:latin typeface="Arial"/>
              </a:rPr>
              <a:t>FCT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2084133"/>
            <a:ext cx="2688336" cy="720000"/>
          </a:xfrm>
          <a:solidFill>
            <a:srgbClr val="2EB0CC"/>
          </a:solidFill>
        </p:spPr>
        <p:txBody>
          <a:bodyPr rtlCol="0">
            <a:normAutofit fontScale="92500" lnSpcReduction="20000"/>
          </a:bodyPr>
          <a:lstStyle/>
          <a:p>
            <a:pPr rtl="0"/>
            <a:r>
              <a:rPr lang="pt-PT" sz="2400" dirty="0">
                <a:latin typeface="Arial"/>
              </a:rPr>
              <a:t>Caraterização da Entidade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FB35D4-CA1C-E365-1F6A-8DE805D6A902}"/>
              </a:ext>
            </a:extLst>
          </p:cNvPr>
          <p:cNvSpPr txBox="1">
            <a:spLocks/>
          </p:cNvSpPr>
          <p:nvPr/>
        </p:nvSpPr>
        <p:spPr>
          <a:xfrm>
            <a:off x="8613648" y="3022543"/>
            <a:ext cx="2688336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dirty="0">
                <a:solidFill>
                  <a:schemeClr val="tx1"/>
                </a:solidFill>
                <a:latin typeface="Arial"/>
              </a:rPr>
              <a:t>Tarefas realizadas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82855-7D8F-0DC7-54A9-438B1EAF8021}"/>
              </a:ext>
            </a:extLst>
          </p:cNvPr>
          <p:cNvSpPr txBox="1">
            <a:spLocks/>
          </p:cNvSpPr>
          <p:nvPr/>
        </p:nvSpPr>
        <p:spPr>
          <a:xfrm>
            <a:off x="8613648" y="3960954"/>
            <a:ext cx="2688336" cy="720000"/>
          </a:xfrm>
          <a:prstGeom prst="rect">
            <a:avLst/>
          </a:prstGeom>
          <a:solidFill>
            <a:srgbClr val="2EB0CC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dirty="0">
                <a:latin typeface="Arial"/>
              </a:rPr>
              <a:t>Reflexão</a:t>
            </a:r>
          </a:p>
        </p:txBody>
      </p:sp>
    </p:spTree>
    <p:extLst>
      <p:ext uri="{BB962C8B-B14F-4D97-AF65-F5344CB8AC3E}">
        <p14:creationId xmlns:p14="http://schemas.microsoft.com/office/powerpoint/2010/main" val="47233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FCT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Caraterização da Entidade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7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58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2000" b="1" dirty="0">
                <a:latin typeface="Arial"/>
              </a:rPr>
              <a:t>AGSE, I.P. — Agência de Gestão do Sistema Educativo</a:t>
            </a:r>
          </a:p>
          <a:p>
            <a:pPr marL="342900" indent="-342900">
              <a:buNone/>
            </a:pPr>
            <a:endParaRPr lang="pt-PT" sz="1800" b="1" dirty="0"/>
          </a:p>
          <a:p>
            <a:pPr marL="342900" indent="-342900">
              <a:buChar char="•"/>
            </a:pPr>
            <a:r>
              <a:rPr lang="pt-PT" dirty="0">
                <a:latin typeface="Arial"/>
              </a:rPr>
              <a:t>Entidade pública portuguesa sob tutela do Ministério da Educação</a:t>
            </a:r>
          </a:p>
          <a:p>
            <a:pPr marL="342900" indent="-342900">
              <a:buChar char="•"/>
            </a:pPr>
            <a:r>
              <a:rPr lang="pt-PT" dirty="0">
                <a:latin typeface="Arial"/>
              </a:rPr>
              <a:t>Responsável pela gestão e modernização do sistema educativo nacional</a:t>
            </a:r>
          </a:p>
          <a:p>
            <a:pPr marL="342900" indent="-342900">
              <a:buChar char="•"/>
            </a:pPr>
            <a:r>
              <a:rPr lang="pt-PT" dirty="0">
                <a:latin typeface="Arial"/>
              </a:rPr>
              <a:t>Coordena os Centros Tecnológicos Especializados (CTE) — Programa PRR (Planos de Recuperação e Resiliência)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None/>
            </a:pPr>
            <a:r>
              <a:rPr lang="pt-PT" b="1" dirty="0">
                <a:latin typeface="Arial"/>
              </a:rPr>
              <a:t>Coordenadora Equipa Multidisciplinar APRR: Dra. Rita Sereno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Escritório: Edifício AGSE, Lisboa (anteriormente IGeFE)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Equipa: departamento de gestão dos CTE / PRR</a:t>
            </a:r>
          </a:p>
        </p:txBody>
      </p:sp>
      <p:pic>
        <p:nvPicPr>
          <p:cNvPr id="60" name="Img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350000"/>
            <a:ext cx="5200000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5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FCT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Tarefas Realizadas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8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58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2000" b="1" dirty="0">
                <a:latin typeface="Arial"/>
              </a:rPr>
              <a:t>Atividades desenvolvidas ao longo das 8 semanas:</a:t>
            </a:r>
          </a:p>
          <a:p>
            <a:pPr marL="342900" indent="-342900">
              <a:buNone/>
            </a:pPr>
            <a:endParaRPr lang="pt-PT" sz="17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Integração e configuração do ambiente de trabalho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Verificação e análise de adendas e vistorias dos CTE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Normalização e gestão documental na plataforma AGIR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Elaboração de relatórios e análise estratégica em Excel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Elaboração de queries SQL na plataforma AGIR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Automação de processos com Microsoft Power Automate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Reestruturação e desenvolvimento do site AGSE/CTE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Reuniões de coordenação com entidades externas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Tratamento de dados confidenciais — conformidade RGPD</a:t>
            </a:r>
          </a:p>
        </p:txBody>
      </p:sp>
      <p:pic>
        <p:nvPicPr>
          <p:cNvPr id="60" name="Img60"/>
          <p:cNvPicPr>
            <a:picLocks noChangeAspect="1"/>
          </p:cNvPicPr>
          <p:nvPr/>
        </p:nvPicPr>
        <p:blipFill>
          <a:blip r:embed="rId2"/>
          <a:srcRect l="679" t="6546" r="283" b="21566"/>
          <a:stretch>
            <a:fillRect/>
          </a:stretch>
        </p:blipFill>
        <p:spPr>
          <a:xfrm>
            <a:off x="6207970" y="1037828"/>
            <a:ext cx="5800000" cy="41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0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o Texto 2">
            <a:extLst>
              <a:ext uri="{FF2B5EF4-FFF2-40B4-BE49-F238E27FC236}">
                <a16:creationId xmlns:a16="http://schemas.microsoft.com/office/drawing/2014/main" id="{A06B3D97-D0B1-5E3C-3855-5FBA8EEB48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kern="1200"/>
              <a:t>FCT | Tarefas Realizadas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8B83286-5178-3AD6-C9D5-F2CCF76D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9ADF88-0AF2-4730-B288-24ACA3CDEAF4}" type="datetime1">
              <a:rPr lang="pt-PT" smtClean="0"/>
              <a:pPr>
                <a:spcAft>
                  <a:spcPts val="600"/>
                </a:spcAft>
              </a:pPr>
              <a:t>26/06/2026</a:t>
            </a:fld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483375E-D242-36DB-6A7E-5FE12DEC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79362A-7A42-A608-C6B5-E7674100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43"/>
          <a:stretch>
            <a:fillRect/>
          </a:stretch>
        </p:blipFill>
        <p:spPr>
          <a:xfrm>
            <a:off x="6294882" y="2478024"/>
            <a:ext cx="4988814" cy="369417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304960-75D4-EF27-F003-E8E9AC44124E}"/>
              </a:ext>
            </a:extLst>
          </p:cNvPr>
          <p:cNvSpPr txBox="1"/>
          <p:nvPr/>
        </p:nvSpPr>
        <p:spPr>
          <a:xfrm>
            <a:off x="910046" y="2130696"/>
            <a:ext cx="4849222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>
                <a:latin typeface="Segoe UI"/>
                <a:cs typeface="Segoe UI"/>
              </a:rPr>
              <a:t>Durante a FCT, surgiu através da Dra. Rita Sereno a proposta de atualização do site institucional da AGSE</a:t>
            </a:r>
            <a:endParaRPr lang="pt-PT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>
                <a:latin typeface="Segoe UI"/>
                <a:cs typeface="Segoe UI"/>
              </a:rPr>
              <a:t>A necessidade surgiu após a AGSE substituir o IGeFE, garantindo informação atualizada e acessível ao público</a:t>
            </a:r>
            <a:endParaRPr lang="pt-PT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>
                <a:latin typeface="Segoe UI"/>
                <a:cs typeface="Segoe UI"/>
              </a:rPr>
              <a:t>As alterações asseguram o cumprimento dos requisitos legais e institucionais</a:t>
            </a:r>
            <a:endParaRPr lang="pt-PT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>
                <a:latin typeface="Segoe UI"/>
                <a:cs typeface="Segoe UI"/>
              </a:rPr>
              <a:t>A proposta foi baseada no antigo site do IGeFE, adaptada ao novo modelo do site da AGSE</a:t>
            </a:r>
            <a:endParaRPr lang="pt-PT"/>
          </a:p>
          <a:p>
            <a:pPr algn="l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9390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9B458E5A-DBBA-04F4-1CF4-E743162B8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C36D55C-593C-53B5-64E7-D334E461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CF11078-F81D-C0C2-7718-A3159C10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6" name="Marcador de Posição do Texto 2">
            <a:extLst>
              <a:ext uri="{FF2B5EF4-FFF2-40B4-BE49-F238E27FC236}">
                <a16:creationId xmlns:a16="http://schemas.microsoft.com/office/drawing/2014/main" id="{BEC69EA6-A13B-1A38-F90B-A2423CC5C8BF}"/>
              </a:ext>
            </a:extLst>
          </p:cNvPr>
          <p:cNvSpPr txBox="1">
            <a:spLocks/>
          </p:cNvSpPr>
          <p:nvPr/>
        </p:nvSpPr>
        <p:spPr>
          <a:xfrm>
            <a:off x="453160" y="402744"/>
            <a:ext cx="11354004" cy="635084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>
                <a:latin typeface="Arial"/>
              </a:rPr>
              <a:t>FCT | </a:t>
            </a:r>
            <a:r>
              <a:rPr lang="pt-PT">
                <a:solidFill>
                  <a:srgbClr val="2EB0CC"/>
                </a:solidFill>
                <a:latin typeface="Arial"/>
              </a:rPr>
              <a:t>Tarefas Realizadas</a:t>
            </a:r>
            <a:endParaRPr lang="en-GB" dirty="0">
              <a:solidFill>
                <a:srgbClr val="2EB0CC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5445547-A408-E4EC-3811-593BC358D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646" y="1685083"/>
            <a:ext cx="6972517" cy="342597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4770C56-7611-B5DD-F07A-C212C0D0EF80}"/>
              </a:ext>
            </a:extLst>
          </p:cNvPr>
          <p:cNvSpPr txBox="1"/>
          <p:nvPr/>
        </p:nvSpPr>
        <p:spPr>
          <a:xfrm>
            <a:off x="451394" y="1483360"/>
            <a:ext cx="4072709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 sz="1600">
                <a:latin typeface="Segoe UI"/>
                <a:cs typeface="Segoe UI"/>
              </a:rPr>
              <a:t>Tratamento, organização e validação de dados em Excel durante a FCT</a:t>
            </a:r>
            <a:endParaRPr lang="pt-PT" sz="16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 sz="1600">
                <a:latin typeface="Segoe UI"/>
                <a:cs typeface="Segoe UI"/>
              </a:rPr>
              <a:t>Utilização de tabelas dinâmicas para resumir grandes volumes de informação de forma eficiente</a:t>
            </a:r>
            <a:endParaRPr lang="pt-PT" sz="16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 sz="1600">
                <a:latin typeface="Segoe UI"/>
                <a:cs typeface="Segoe UI"/>
              </a:rPr>
              <a:t>Criação de relatórios estruturados para análise e apoio à tomada de decisão</a:t>
            </a:r>
            <a:endParaRPr lang="pt-PT" sz="16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 sz="1600">
                <a:latin typeface="Segoe UI"/>
                <a:cs typeface="Segoe UI"/>
              </a:rPr>
              <a:t>Aplicação de filtros, segmentações e cruzamento de dados para melhor leitura da informação</a:t>
            </a:r>
            <a:endParaRPr lang="pt-PT" sz="16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pt-PT" sz="1600">
                <a:latin typeface="Segoe UI"/>
                <a:cs typeface="Segoe UI"/>
              </a:rPr>
              <a:t>Identificação de padrões, inconsistências e indicadores relevantes nos dados analisados</a:t>
            </a:r>
            <a:endParaRPr lang="pt-PT" sz="1600"/>
          </a:p>
          <a:p>
            <a:pPr algn="l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5061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FCT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Reflexão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11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375522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Reflexão sobre a FCT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Crescimento técnico em Excel avançado, SQL e Microsoft Power Automate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Contacto direto com uma entidade pública de âmbito nacional — Ministério da Educação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Compreensão do impacto da tecnologia na modernização dos serviços públicos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Trabalho com dados confidenciais e aplicação dos princípios do RGPD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Participação no cumprimento das metas do PRR — impacto real em centenas de escolas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Desenvolvimento de competências interpessoais e postura profissional</a:t>
            </a:r>
          </a:p>
          <a:p>
            <a:pPr marL="342900" indent="-342900">
              <a:buNone/>
            </a:pPr>
            <a:endParaRPr lang="pt-PT" sz="1600" dirty="0"/>
          </a:p>
          <a:p>
            <a:pPr marL="342900" indent="-342900">
              <a:buNone/>
            </a:pPr>
            <a:endParaRPr lang="pt-PT" sz="1600" b="1" dirty="0"/>
          </a:p>
          <a:p>
            <a:pPr marL="342900" indent="-342900">
              <a:buNone/>
            </a:pPr>
            <a:endParaRPr lang="pt-PT" sz="1600" b="1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Agradecimento à Dra. Rita Sereno — tutora de excelência, pela segunda vez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Agradecimento ao Prof. Pedro Gonçalves — pela confiança e orientação</a:t>
            </a:r>
          </a:p>
        </p:txBody>
      </p:sp>
    </p:spTree>
    <p:extLst>
      <p:ext uri="{BB962C8B-B14F-4D97-AF65-F5344CB8AC3E}">
        <p14:creationId xmlns:p14="http://schemas.microsoft.com/office/powerpoint/2010/main" val="399725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>
                <a:latin typeface="Arial"/>
              </a:rPr>
              <a:t>Projeto</a:t>
            </a:r>
            <a:r>
              <a:rPr lang="en-GB" dirty="0">
                <a:latin typeface="Arial"/>
              </a:rPr>
              <a:t> PAP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3" y="2001782"/>
            <a:ext cx="2867152" cy="374405"/>
          </a:xfrm>
          <a:solidFill>
            <a:srgbClr val="2EB0CC"/>
          </a:solidFill>
        </p:spPr>
        <p:txBody>
          <a:bodyPr rtlCol="0">
            <a:normAutofit fontScale="70000" lnSpcReduction="20000"/>
          </a:bodyPr>
          <a:lstStyle/>
          <a:p>
            <a:pPr rtl="0"/>
            <a:r>
              <a:rPr lang="pt-PT" dirty="0">
                <a:latin typeface="Arial"/>
              </a:rPr>
              <a:t>Fundamentação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F40C75-7CD3-B3CB-2EA9-B7CC94949FEB}"/>
              </a:ext>
            </a:extLst>
          </p:cNvPr>
          <p:cNvSpPr txBox="1">
            <a:spLocks/>
          </p:cNvSpPr>
          <p:nvPr/>
        </p:nvSpPr>
        <p:spPr>
          <a:xfrm>
            <a:off x="8613644" y="2486855"/>
            <a:ext cx="2867151" cy="34346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  <a:latin typeface="Arial"/>
              </a:rPr>
              <a:t>Finalidade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A99820-5EF2-473A-BEC0-7B37BE727DBB}"/>
              </a:ext>
            </a:extLst>
          </p:cNvPr>
          <p:cNvSpPr txBox="1">
            <a:spLocks/>
          </p:cNvSpPr>
          <p:nvPr/>
        </p:nvSpPr>
        <p:spPr>
          <a:xfrm>
            <a:off x="8613644" y="2935984"/>
            <a:ext cx="2867152" cy="354400"/>
          </a:xfrm>
          <a:prstGeom prst="rect">
            <a:avLst/>
          </a:prstGeom>
          <a:solidFill>
            <a:srgbClr val="2EB0CC"/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latin typeface="Arial"/>
              </a:rPr>
              <a:t>Enquadramento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FFBAF75-25BF-4052-A4A5-76628F3E39F0}"/>
              </a:ext>
            </a:extLst>
          </p:cNvPr>
          <p:cNvSpPr txBox="1">
            <a:spLocks/>
          </p:cNvSpPr>
          <p:nvPr/>
        </p:nvSpPr>
        <p:spPr>
          <a:xfrm>
            <a:off x="8613644" y="3411056"/>
            <a:ext cx="2867151" cy="3544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  <a:latin typeface="Arial"/>
              </a:rPr>
              <a:t>Cronograma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CCB7C27-2B07-46E6-B36A-9AFD6765E38A}"/>
              </a:ext>
            </a:extLst>
          </p:cNvPr>
          <p:cNvSpPr txBox="1">
            <a:spLocks/>
          </p:cNvSpPr>
          <p:nvPr/>
        </p:nvSpPr>
        <p:spPr>
          <a:xfrm>
            <a:off x="8613644" y="3876124"/>
            <a:ext cx="2867152" cy="374405"/>
          </a:xfrm>
          <a:prstGeom prst="rect">
            <a:avLst/>
          </a:prstGeom>
          <a:solidFill>
            <a:srgbClr val="2EB0CC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latin typeface="Arial"/>
              </a:rPr>
              <a:t>Ferramentas e Linguagens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9C0BD-3C94-4CF4-B2BA-06924D18FFC9}"/>
              </a:ext>
            </a:extLst>
          </p:cNvPr>
          <p:cNvSpPr txBox="1">
            <a:spLocks/>
          </p:cNvSpPr>
          <p:nvPr/>
        </p:nvSpPr>
        <p:spPr>
          <a:xfrm>
            <a:off x="8613644" y="4388470"/>
            <a:ext cx="2867151" cy="3744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  <a:latin typeface="Arial"/>
              </a:rPr>
              <a:t>Etapas e 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612835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Fundamentação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384149" y="1247089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2400" b="1" dirty="0">
                <a:latin typeface="Arial"/>
              </a:rPr>
              <a:t>Origem e Motivação do Projeto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Inspiração pessoal: a namorada é fotógrafa profissional especializada em eventos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Observação em primeira mão da complexidade logística de casamentos e eventos privados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Pensando em casar um dia, tornou-se evidente a necessidade de uma ferramenta integrada</a:t>
            </a:r>
          </a:p>
          <a:p>
            <a:pPr marL="342900" indent="-342900">
              <a:buNone/>
            </a:pPr>
            <a:endParaRPr lang="pt-PT" sz="1600" dirty="0"/>
          </a:p>
          <a:p>
            <a:pPr marL="342900" indent="-342900">
              <a:buNone/>
            </a:pPr>
            <a:r>
              <a:rPr lang="pt-PT" sz="2400" b="1" dirty="0">
                <a:latin typeface="Arial"/>
              </a:rPr>
              <a:t>Lacuna identificada no mercado: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Ferramentas existentes são fragmentadas — exigem múltiplas apps para gerir convidados, staff, presentes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Plataformas como Luma e Eventbrite focam eventos públicos, não eventos privados personalizados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Casamentos.pt e similares são intermediários — o organizador não tem controlo direto</a:t>
            </a:r>
          </a:p>
          <a:p>
            <a:pPr marL="342900" indent="-342900">
              <a:lnSpc>
                <a:spcPct val="150000"/>
              </a:lnSpc>
              <a:buNone/>
            </a:pPr>
            <a:endParaRPr lang="pt-PT" sz="1600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Objetivo: criar uma solução com impacto prático real, demonstrável em contexto profissional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dirty="0">
                <a:latin typeface="Arial"/>
              </a:rPr>
              <a:t>Especialização desejada: desenvolvimento web full-stack</a:t>
            </a:r>
          </a:p>
        </p:txBody>
      </p:sp>
    </p:spTree>
    <p:extLst>
      <p:ext uri="{BB962C8B-B14F-4D97-AF65-F5344CB8AC3E}">
        <p14:creationId xmlns:p14="http://schemas.microsoft.com/office/powerpoint/2010/main" val="379145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Finalidade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14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Finalidades do EventHub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Centralizar toda a organização de um evento numa única plataforma web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5 perfis distintos: Administrador, Organizador, Staff, Cliente, Convidado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Dashboard do organizador com 13 módulos funcionais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Planta de mesas visual e interativa com drag-and-drop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QR Codes únicos de acesso por convidado — sistema de check-in no evento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Convites por email com token único de acesso seguro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Notificações internas em tempo real entre organizador e staff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4 temas visuais para a página do convidado (Classic, Modern, Elegant, </a:t>
            </a:r>
            <a:r>
              <a:rPr lang="pt-PT" sz="1600" dirty="0" err="1">
                <a:latin typeface="Arial"/>
              </a:rPr>
              <a:t>Rustic</a:t>
            </a:r>
            <a:r>
              <a:rPr lang="pt-PT" sz="1600" dirty="0"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6083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Enquadramento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15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Contexto Tecnológico e de Mercado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Stack tecnológico: HTML5, CSS3, JavaScript, PHP, MySQL — XAMPP (Apache)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Arquitetura cliente-servidor com 12 endpoints REST e respostas JSON standardizadas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Base de dados normalizada com 20+ tabelas e chaves estrangeiras com cascades</a:t>
            </a:r>
          </a:p>
          <a:p>
            <a:pPr marL="342900" indent="-342900">
              <a:buNone/>
            </a:pPr>
            <a:endParaRPr lang="pt-PT" sz="16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Análise de concorrentes: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Luma — foco em eventos públicos, não em gestão privada personalizada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Eventbrite — orientado para bilhetes e eventos de grande escala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Casamentos.pt — serviço intermediado, sem controlo direto do organizador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EventHub: solução autónoma com controlo total — personalizável, local e sem intermediários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Motivação tecnológica: PHP/MySQL para deploy simples em ambientes LAMP/XAMPP</a:t>
            </a:r>
          </a:p>
        </p:txBody>
      </p:sp>
    </p:spTree>
    <p:extLst>
      <p:ext uri="{BB962C8B-B14F-4D97-AF65-F5344CB8AC3E}">
        <p14:creationId xmlns:p14="http://schemas.microsoft.com/office/powerpoint/2010/main" val="117645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Cronograma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16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Etapas de Desenvolvimento do EventHub</a:t>
            </a:r>
          </a:p>
          <a:p>
            <a:pPr marL="342900" indent="-342900" algn="just">
              <a:buNone/>
            </a:pPr>
            <a:endParaRPr lang="pt-PT" sz="1900" b="1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1 — Planeamento e Arquitetura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Levantamento de requisitos, design da BD, estrutura de ficheiros PHP/</a:t>
            </a:r>
            <a:r>
              <a:rPr lang="pt-PT" sz="1500" dirty="0" err="1">
                <a:latin typeface="Arial"/>
              </a:rPr>
              <a:t>MySQL</a:t>
            </a:r>
            <a:endParaRPr lang="pt-PT" sz="1500" dirty="0"/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2 — Interface Pública (Landing Page)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Landing page PT/EN com hero, feature cards, sobre nós e </a:t>
            </a:r>
            <a:r>
              <a:rPr lang="pt-PT" sz="1500" dirty="0" err="1">
                <a:latin typeface="Arial"/>
              </a:rPr>
              <a:t>footer</a:t>
            </a:r>
            <a:endParaRPr lang="pt-PT" sz="1500" dirty="0"/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3 — Sistema de Autenticação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Login local (SHA-256), Google OAuth 2.0, 5 roles, requireLogin/</a:t>
            </a:r>
            <a:r>
              <a:rPr lang="pt-PT" sz="1500" dirty="0" err="1">
                <a:latin typeface="Arial"/>
              </a:rPr>
              <a:t>requireRole</a:t>
            </a:r>
            <a:endParaRPr lang="pt-PT" sz="1500" dirty="0"/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4 — Dashboard do Organizador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13 módulos: eventos, convidados, mesas, decoração, staff, tarefas, QR Codes, clientes...</a:t>
            </a:r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5 — Dashboard do Staff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Kanban de tarefas, notificações, perfil do colaborador</a:t>
            </a:r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6 — Página do Convidado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4 temas visuais, countdown, RSVP, dresscode, Google Maps, lista de presentes</a:t>
            </a:r>
          </a:p>
          <a:p>
            <a:pPr marL="342900" indent="-342900" algn="just">
              <a:buChar char="•"/>
            </a:pPr>
            <a:endParaRPr lang="pt-PT" sz="1500" dirty="0"/>
          </a:p>
          <a:p>
            <a:pPr marL="342900" indent="-342900" algn="just">
              <a:buNone/>
            </a:pPr>
            <a:r>
              <a:rPr lang="pt-PT" sz="1600" b="1" dirty="0">
                <a:latin typeface="Arial"/>
              </a:rPr>
              <a:t>Etapa 7 — APIs REST e app.js</a:t>
            </a:r>
          </a:p>
          <a:p>
            <a:pPr marL="342900" indent="-342900" algn="just">
              <a:buChar char="•"/>
            </a:pPr>
            <a:r>
              <a:rPr lang="pt-PT" sz="1500" dirty="0">
                <a:latin typeface="Arial"/>
              </a:rPr>
              <a:t>12 endpoints REST, response.php standardizado, lang.js PT/EN</a:t>
            </a:r>
          </a:p>
        </p:txBody>
      </p:sp>
    </p:spTree>
    <p:extLst>
      <p:ext uri="{BB962C8B-B14F-4D97-AF65-F5344CB8AC3E}">
        <p14:creationId xmlns:p14="http://schemas.microsoft.com/office/powerpoint/2010/main" val="2886466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Ferramentas e linguagens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17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Ferramentas e Linguagens Utilizadas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Frontend: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HTML5 · CSS3 · JavaScript (Vanilla JS) — sem framework adicional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Backend: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PHP 7.4+ · MySQL 5.7+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Ambiente de Desenvolvimento: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XAMPP (Apache + MySQL) · phpMyAdmin · Visual Studio Code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Controlo de Versões: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Git · GitHub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Autenticação: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Google Cloud Console (OAuth 2.0 Credentials) · cacert/curl-ca-bundle.crt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Documentação / Screenshots: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Playwright (Python) — script de geração automática de screenshots para o relatório</a:t>
            </a:r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Microsoft 365:</a:t>
            </a:r>
          </a:p>
          <a:p>
            <a:pPr marL="342900" indent="-342900">
              <a:buChar char="•"/>
            </a:pPr>
            <a:r>
              <a:rPr lang="pt-PT" sz="1600" dirty="0">
                <a:latin typeface="Arial"/>
              </a:rPr>
              <a:t>Excel · Power Automate · Teams · OneDrive (utilizados na FCT)</a:t>
            </a:r>
          </a:p>
        </p:txBody>
      </p:sp>
    </p:spTree>
    <p:extLst>
      <p:ext uri="{BB962C8B-B14F-4D97-AF65-F5344CB8AC3E}">
        <p14:creationId xmlns:p14="http://schemas.microsoft.com/office/powerpoint/2010/main" val="147449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Projeto PAP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Etapas e funcionalidades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18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5800000" cy="4900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342900" indent="-342900">
              <a:buNone/>
            </a:pPr>
            <a:r>
              <a:rPr lang="pt-PT" sz="1700" b="1" dirty="0">
                <a:latin typeface="Arial"/>
              </a:rPr>
              <a:t>Funcionalidades Principais: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2 — Landing page PT/EN com hero, features e footer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3 — Login SHA-256 + Google OAuth, 5 roles, redirecionamento automático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4 — Dashboard organizador: 13 módulos funcionais completos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sz="1500" dirty="0">
                <a:latin typeface="Arial"/>
              </a:rPr>
              <a:t>       eventos, convidados, planta mesas drag-and-drop, decoração,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sz="1500" dirty="0">
                <a:latin typeface="Arial"/>
              </a:rPr>
              <a:t>       fornecedores, staff+tarefas, presentes, recursos, QR Codes,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sz="1500" dirty="0">
                <a:latin typeface="Arial"/>
              </a:rPr>
              <a:t>       clientes, perfil, definições, tutorial interativo 6 passos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5 — Staff Kanban: Pendente / Em Andamento / Concluída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6 — Página convidado: 4 temas, countdown, RSVP, dresscode, Maps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700" dirty="0">
                <a:latin typeface="Arial"/>
              </a:rPr>
              <a:t>Etapa 7 — 12 endpoints REST · app.js · lang.js PT/EN</a:t>
            </a:r>
          </a:p>
        </p:txBody>
      </p:sp>
      <p:pic>
        <p:nvPicPr>
          <p:cNvPr id="60" name="Img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2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334EF19-4E90-351F-9FE9-204A0976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FD2CBB-91E7-4913-B090-583BDECDFD1A}" type="datetime1">
              <a:rPr lang="pt-PT" noProof="0" smtClean="0"/>
              <a:t>26/06/2026</a:t>
            </a:fld>
            <a:endParaRPr lang="en-GB" noProof="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84C5D68-5444-ED36-82E9-3362F55E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19</a:t>
            </a:fld>
            <a:endParaRPr lang="en-GB" noProof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C61A089-1DBC-5421-FD34-023E19A5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200000"/>
            <a:ext cx="11285000" cy="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2200" b="1" dirty="0">
                <a:latin typeface="Arial"/>
              </a:rPr>
              <a:t>EventHub — Dashboard do Organizador</a:t>
            </a:r>
          </a:p>
        </p:txBody>
      </p:sp>
      <p:pic>
        <p:nvPicPr>
          <p:cNvPr id="60" name="Img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60" y="950000"/>
            <a:ext cx="11285000" cy="5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68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7DA9C3E-CCE7-D555-01BB-E296728E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454667-FC73-4662-9EFB-8B258B00B8DE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82C2EF3-2EE0-3CE7-2D7C-F440C667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7499" y="2222095"/>
            <a:ext cx="6477001" cy="365125"/>
          </a:xfrm>
        </p:spPr>
        <p:txBody>
          <a:bodyPr/>
          <a:lstStyle/>
          <a:p>
            <a:pPr rtl="0"/>
            <a:r>
              <a:rPr lang="en-GB" sz="4400" b="1" noProof="0" dirty="0" err="1">
                <a:latin typeface="Arial"/>
              </a:rPr>
              <a:t>Demonstração</a:t>
            </a:r>
            <a:r>
              <a:rPr lang="en-GB" sz="4400" b="1" noProof="0" dirty="0">
                <a:latin typeface="Arial"/>
              </a:rPr>
              <a:t> da PAP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0A04BAD-1502-D9DB-3FAC-F05C629B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4662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>
                <a:latin typeface="Arial"/>
              </a:rPr>
              <a:t>Conclusão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936000"/>
          </a:xfrm>
          <a:solidFill>
            <a:srgbClr val="2EB0CC"/>
          </a:solidFill>
        </p:spPr>
        <p:txBody>
          <a:bodyPr rtlCol="0"/>
          <a:lstStyle/>
          <a:p>
            <a:pPr rtl="0"/>
            <a:r>
              <a:rPr lang="pt-PT" dirty="0">
                <a:latin typeface="Arial"/>
              </a:rPr>
              <a:t>Dificuldades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0FCDD75-B77A-181A-EA00-3A1A361C8156}"/>
              </a:ext>
            </a:extLst>
          </p:cNvPr>
          <p:cNvSpPr txBox="1">
            <a:spLocks/>
          </p:cNvSpPr>
          <p:nvPr/>
        </p:nvSpPr>
        <p:spPr>
          <a:xfrm>
            <a:off x="8613648" y="2973430"/>
            <a:ext cx="2688336" cy="936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  <a:latin typeface="Arial"/>
              </a:rPr>
              <a:t>Problemas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D19148-D1F9-F2A3-8926-481031E0EFC6}"/>
              </a:ext>
            </a:extLst>
          </p:cNvPr>
          <p:cNvSpPr txBox="1">
            <a:spLocks/>
          </p:cNvSpPr>
          <p:nvPr/>
        </p:nvSpPr>
        <p:spPr>
          <a:xfrm>
            <a:off x="8613648" y="4008332"/>
            <a:ext cx="2688336" cy="936000"/>
          </a:xfrm>
          <a:prstGeom prst="rect">
            <a:avLst/>
          </a:prstGeom>
          <a:solidFill>
            <a:srgbClr val="2EB0CC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latin typeface="Arial"/>
              </a:rPr>
              <a:t>Soluções</a:t>
            </a:r>
          </a:p>
        </p:txBody>
      </p:sp>
    </p:spTree>
    <p:extLst>
      <p:ext uri="{BB962C8B-B14F-4D97-AF65-F5344CB8AC3E}">
        <p14:creationId xmlns:p14="http://schemas.microsoft.com/office/powerpoint/2010/main" val="846106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Conclusão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Dificuldades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22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Dificuldades Técnicas Encontradas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lnSpc>
                <a:spcPct val="150000"/>
              </a:lnSpc>
              <a:buNone/>
            </a:pPr>
            <a:r>
              <a:rPr lang="pt-PT" b="1" dirty="0">
                <a:latin typeface="Arial"/>
              </a:rPr>
              <a:t>Erro de collation na migração da BD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Conflito utf8mb4_general_ci vs utf8mb4_unicode_ci entre tabelas de diferentes fases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b="1" dirty="0">
                <a:latin typeface="Arial"/>
              </a:rPr>
              <a:t>Google OAuth SSL bloqueado pelo Norton Antivirus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Norton substituía o certificado do Google — PHP não confiava no certificado intercetado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b="1" dirty="0">
                <a:latin typeface="Arial"/>
              </a:rPr>
              <a:t>Foreign keys sem ON DELETE CASCADE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Necessidade de limpar manualmente tabelas relacionadas antes do DELETE final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b="1" dirty="0">
                <a:latin typeface="Arial"/>
              </a:rPr>
              <a:t>Planta de mesas drag-and-drop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Lógica complexa de posicionamento e persistência das posições das mesas em tempo real</a:t>
            </a:r>
          </a:p>
          <a:p>
            <a:pPr marL="342900" indent="-342900">
              <a:lnSpc>
                <a:spcPct val="150000"/>
              </a:lnSpc>
              <a:buNone/>
            </a:pPr>
            <a:r>
              <a:rPr lang="pt-PT" b="1" dirty="0">
                <a:latin typeface="Arial"/>
              </a:rPr>
              <a:t>Página do convidado (contratante)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pt-PT" sz="1600" dirty="0">
                <a:latin typeface="Arial"/>
              </a:rPr>
              <a:t>Dois perfis distintos (convidado vs cliente) com acessos e vistas diferentes a gerir</a:t>
            </a:r>
          </a:p>
        </p:txBody>
      </p:sp>
    </p:spTree>
    <p:extLst>
      <p:ext uri="{BB962C8B-B14F-4D97-AF65-F5344CB8AC3E}">
        <p14:creationId xmlns:p14="http://schemas.microsoft.com/office/powerpoint/2010/main" val="4105308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Conclusão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Problemas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23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Outros Problemas Encontrados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Requisitos iniciais ambíguos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Termos como "back office" e "últimas transações" não correspondiam a nenhum módulo existente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"Painel de admin escondido" — duas interpretações possíveis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URL secreto vs login normal com redirecionamento por role — clarificado por pergunta direta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XAMPP instável entre sessões de trabalho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Apache/MySQL exigiam arranque manual antes de cada sessão de desenvolvimento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Teste multiutilizador simultâneo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5 perfis ativos ao mesmo tempo exigiram 5 perfis de browser Chrome isolados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Contas de demonstração sem password conhecida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Criação de contas demo via endpoint de admin sem tocar nos dados reais</a:t>
            </a:r>
          </a:p>
        </p:txBody>
      </p:sp>
    </p:spTree>
    <p:extLst>
      <p:ext uri="{BB962C8B-B14F-4D97-AF65-F5344CB8AC3E}">
        <p14:creationId xmlns:p14="http://schemas.microsoft.com/office/powerpoint/2010/main" val="3706983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5285F9-B74C-DE48-D310-B3B60F3E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Arial"/>
              </a:rPr>
              <a:t>Conclusão | </a:t>
            </a:r>
            <a:r>
              <a:rPr lang="pt-PT" dirty="0">
                <a:solidFill>
                  <a:srgbClr val="2EB0CC"/>
                </a:solidFill>
                <a:latin typeface="Arial"/>
              </a:rPr>
              <a:t>Soluções</a:t>
            </a:r>
            <a:endParaRPr lang="en-GB" dirty="0">
              <a:solidFill>
                <a:srgbClr val="2EB0CC"/>
              </a:solidFill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7F24EE-768B-2E94-AC48-9EBCA5FA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9ADF88-0AF2-4730-B288-24ACA3CDEAF4}" type="datetime1">
              <a:rPr lang="pt-PT" noProof="0" smtClean="0"/>
              <a:t>26/06/2026</a:t>
            </a:fld>
            <a:endParaRPr lang="en-GB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C517C7-947A-E63C-8C51-F5F6063E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en-GB" noProof="0" smtClean="0"/>
              <a:t>24</a:t>
            </a:fld>
            <a:endParaRPr lang="en-GB" noProof="0"/>
          </a:p>
        </p:txBody>
      </p:sp>
      <p:sp>
        <p:nvSpPr>
          <p:cNvPr id="51" name="Content51"/>
          <p:cNvSpPr txBox="1"/>
          <p:nvPr/>
        </p:nvSpPr>
        <p:spPr>
          <a:xfrm>
            <a:off x="453160" y="1150000"/>
            <a:ext cx="11285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Soluções Implementadas</a:t>
            </a:r>
          </a:p>
          <a:p>
            <a:pPr marL="342900" indent="-342900">
              <a:buNone/>
            </a:pPr>
            <a:endParaRPr lang="pt-PT" sz="1900" b="1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Collation BD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Forçar COLLATE utf8mb4_unicode_ci explicitamente na query de migração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Google OAuth SSL / Norton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Exportar certificado raiz do Norton → adicionar ao cacert/curl-ca-bundle.crt do PHP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Foreign keys / CASCADE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Limpeza manual sequencial das tabelas dependentes antes do DELETE principal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Sessões múltiplas / teste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5 perfis de browser Chrome isolados (cada um com armazenamento de cookies independente)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Validação visual do projeto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Script Playwright em Python para geração automática de screenshots da aplicação</a:t>
            </a:r>
          </a:p>
          <a:p>
            <a:pPr marL="342900" indent="-342900">
              <a:buChar char="•"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Requisitos ambíguos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Paragem para clarificação direta antes de implementar — evitar construir o errado</a:t>
            </a:r>
          </a:p>
        </p:txBody>
      </p:sp>
    </p:spTree>
    <p:extLst>
      <p:ext uri="{BB962C8B-B14F-4D97-AF65-F5344CB8AC3E}">
        <p14:creationId xmlns:p14="http://schemas.microsoft.com/office/powerpoint/2010/main" val="39266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51"/>
          <p:cNvSpPr txBox="1"/>
          <p:nvPr/>
        </p:nvSpPr>
        <p:spPr>
          <a:xfrm>
            <a:off x="1117394" y="1709125"/>
            <a:ext cx="10726674" cy="5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600" dirty="0">
                <a:latin typeface="Arial"/>
              </a:rPr>
              <a:t>Um obrigado sincero a todas as pessoas que tornaram este percurso possível:</a:t>
            </a:r>
          </a:p>
          <a:p>
            <a:pPr marL="342900" indent="-342900">
              <a:buNone/>
            </a:pPr>
            <a:endParaRPr lang="pt-PT" sz="1600" dirty="0"/>
          </a:p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Dra. Rita Sereno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Tutora de estágio na AGSE — pelo acolhimento, orientação e confiança, pela segunda vez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None/>
            </a:pPr>
            <a:r>
              <a:rPr lang="pt-PT" sz="1900" b="1" dirty="0">
                <a:latin typeface="Arial"/>
              </a:rPr>
              <a:t>Prof. Pedro Gonçalves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Coordenador e orientador — pela crença no trabalho e pelo acompanhamento ao longo do curso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None/>
            </a:pPr>
            <a:r>
              <a:rPr lang="pt-PT" sz="1800" b="1" dirty="0">
                <a:latin typeface="Arial"/>
              </a:rPr>
              <a:t>Escola Profissional Bento de Jesus Caraça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Por proporcionar uma formação técnica de qualidade e oportunidades reais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None/>
            </a:pPr>
            <a:r>
              <a:rPr lang="pt-PT" sz="1700" b="1" dirty="0">
                <a:latin typeface="Arial"/>
              </a:rPr>
              <a:t>Colegas e família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Pelo apoio ao longo de todo o percurso formativo</a:t>
            </a:r>
          </a:p>
        </p:txBody>
      </p:sp>
      <p:sp>
        <p:nvSpPr>
          <p:cNvPr id="200" name="Header200"/>
          <p:cNvSpPr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txBody>
          <a:bodyPr anchor="ctr">
            <a:normAutofit/>
          </a:bodyPr>
          <a:lstStyle/>
          <a:p>
            <a:pPr marL="453160" algn="l">
              <a:spcBef>
                <a:spcPts val="0"/>
              </a:spcBef>
            </a:pPr>
            <a:r>
              <a:rPr lang="pt-PT" sz="2400" b="1" dirty="0">
                <a:solidFill>
                  <a:srgbClr val="FFFFFF"/>
                </a:solidFill>
                <a:latin typeface="Arial"/>
              </a:rPr>
              <a:t>Agradecimentos</a:t>
            </a:r>
          </a:p>
        </p:txBody>
      </p:sp>
    </p:spTree>
    <p:extLst>
      <p:ext uri="{BB962C8B-B14F-4D97-AF65-F5344CB8AC3E}">
        <p14:creationId xmlns:p14="http://schemas.microsoft.com/office/powerpoint/2010/main" val="1732222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51"/>
          <p:cNvSpPr txBox="1"/>
          <p:nvPr/>
        </p:nvSpPr>
        <p:spPr>
          <a:xfrm>
            <a:off x="970745" y="1536596"/>
            <a:ext cx="11285000" cy="5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None/>
            </a:pPr>
            <a:r>
              <a:rPr lang="pt-PT" sz="1800" b="1" dirty="0">
                <a:latin typeface="Arial"/>
              </a:rPr>
              <a:t>Referências e Recursos Utilizados</a:t>
            </a:r>
          </a:p>
          <a:p>
            <a:pPr marL="342900" indent="-342900">
              <a:buNone/>
            </a:pPr>
            <a:endParaRPr lang="pt-PT" sz="1800" b="1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Documentação Técnica: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PHP Manual — https://www.php.net/manual/pt_BR/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MySQL Documentation — https://dev.mysql.com/doc/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MDN Web Docs (HTML/CSS/JS) — https://developer.mozilla.org/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Google Identity Platform (OAuth 2.0) — https://developers.google.com/identity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Playwright for Python — https://playwright.dev/python/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None/>
            </a:pPr>
            <a:r>
              <a:rPr lang="pt-PT" sz="1600" b="1" dirty="0">
                <a:latin typeface="Arial"/>
              </a:rPr>
              <a:t>Instituições: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AGSE, I.P. — https://agse.pt/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EPBJC — https://epbjc.pt/</a:t>
            </a:r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Diário da República — https://dre.pt/</a:t>
            </a:r>
          </a:p>
          <a:p>
            <a:pPr marL="342900" indent="-342900">
              <a:buNone/>
            </a:pPr>
            <a:endParaRPr lang="pt-PT" sz="1500" dirty="0"/>
          </a:p>
          <a:p>
            <a:pPr marL="342900" indent="-342900">
              <a:buChar char="•"/>
            </a:pPr>
            <a:r>
              <a:rPr lang="pt-PT" sz="1500" dirty="0">
                <a:latin typeface="Arial"/>
              </a:rPr>
              <a:t>Ferramentas Open Source: XAMPP · phpMyAdmin · VS Code · Git · GitHub</a:t>
            </a:r>
          </a:p>
        </p:txBody>
      </p:sp>
      <p:sp>
        <p:nvSpPr>
          <p:cNvPr id="200" name="Header200"/>
          <p:cNvSpPr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2EB0CC"/>
          </a:solidFill>
          <a:ln>
            <a:noFill/>
          </a:ln>
        </p:spPr>
        <p:txBody>
          <a:bodyPr anchor="ctr">
            <a:normAutofit/>
          </a:bodyPr>
          <a:lstStyle/>
          <a:p>
            <a:pPr marL="453160" algn="l">
              <a:spcBef>
                <a:spcPts val="0"/>
              </a:spcBef>
            </a:pPr>
            <a:r>
              <a:rPr lang="pt-PT" sz="2400" b="1" dirty="0">
                <a:solidFill>
                  <a:srgbClr val="FFFFFF"/>
                </a:solidFill>
                <a:latin typeface="Arial"/>
              </a:rPr>
              <a:t>Bibliografia</a:t>
            </a:r>
          </a:p>
        </p:txBody>
      </p:sp>
    </p:spTree>
    <p:extLst>
      <p:ext uri="{BB962C8B-B14F-4D97-AF65-F5344CB8AC3E}">
        <p14:creationId xmlns:p14="http://schemas.microsoft.com/office/powerpoint/2010/main" val="2623126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2E3A-DB80-46C8-A227-EE0F7E87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>
                <a:latin typeface="Arial"/>
              </a:rPr>
              <a:t>Obrigado</a:t>
            </a:r>
            <a:r>
              <a:rPr lang="en-GB" dirty="0">
                <a:latin typeface="Arial"/>
              </a:rPr>
              <a:t>!</a:t>
            </a:r>
          </a:p>
        </p:txBody>
      </p:sp>
      <p:pic>
        <p:nvPicPr>
          <p:cNvPr id="25" name="Online Image Placeholder 23" descr="User">
            <a:extLst>
              <a:ext uri="{FF2B5EF4-FFF2-40B4-BE49-F238E27FC236}">
                <a16:creationId xmlns:a16="http://schemas.microsoft.com/office/drawing/2014/main" id="{DD136AFE-38B3-4FAE-907B-277600FBDED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977D1C-657B-4FA7-B4A1-CD08EC61D3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en-GB" sz="1600">
                <a:latin typeface="Arial"/>
              </a:rPr>
              <a:t>Gabriel Oliveira</a:t>
            </a:r>
            <a:endParaRPr lang="en-GB" sz="1600" dirty="0"/>
          </a:p>
        </p:txBody>
      </p:sp>
      <p:pic>
        <p:nvPicPr>
          <p:cNvPr id="27" name="Online Image Placeholder 27" descr="Envelope">
            <a:extLst>
              <a:ext uri="{FF2B5EF4-FFF2-40B4-BE49-F238E27FC236}">
                <a16:creationId xmlns:a16="http://schemas.microsoft.com/office/drawing/2014/main" id="{79C99175-A844-475F-B903-FB0A246099C3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E9EE6-5A74-4119-8DAA-06582357CF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r>
              <a:rPr lang="en-GB" sz="1600">
                <a:latin typeface="Arial"/>
              </a:rPr>
              <a:t>Email Ba2604@alunos.epbjc.pt</a:t>
            </a:r>
            <a:endParaRPr lang="en-GB" dirty="0"/>
          </a:p>
        </p:txBody>
      </p:sp>
      <p:pic>
        <p:nvPicPr>
          <p:cNvPr id="29" name="Online Image Placeholder 11" descr="Monitor">
            <a:extLst>
              <a:ext uri="{FF2B5EF4-FFF2-40B4-BE49-F238E27FC236}">
                <a16:creationId xmlns:a16="http://schemas.microsoft.com/office/drawing/2014/main" id="{247D95FD-08A2-4831-BB6A-A0FCA300459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3CE7679-6065-4440-BCF7-BAFF752B013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en-GB" sz="1600">
                <a:latin typeface="Arial"/>
              </a:rPr>
              <a:t>https://epbjc.pt/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BB8335-F249-4F37-8C3F-A672116E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GB" smtClean="0"/>
              <a:t>27</a:t>
            </a:fld>
            <a:endParaRPr lang="en-GB"/>
          </a:p>
        </p:txBody>
      </p:sp>
      <p:sp>
        <p:nvSpPr>
          <p:cNvPr id="13" name="Marcador de Posição da Data 1">
            <a:extLst>
              <a:ext uri="{FF2B5EF4-FFF2-40B4-BE49-F238E27FC236}">
                <a16:creationId xmlns:a16="http://schemas.microsoft.com/office/drawing/2014/main" id="{D2B0350D-18B7-4778-B32C-A7B0CEBD763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12E135-60F2-4E3A-8838-5592BB4D3DBF}" type="datetime1">
              <a:rPr lang="pt-PT" sz="1200" smtClean="0">
                <a:solidFill>
                  <a:schemeClr val="tx1">
                    <a:tint val="75000"/>
                  </a:schemeClr>
                </a:solidFill>
              </a:rPr>
              <a:pPr/>
              <a:t>26/06/2026</a:t>
            </a:fld>
            <a:endParaRPr lang="en-GB" sz="12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75288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00019_TF89213316_Win32" id="{45F241BC-223D-4F5F-AC9A-E0655C72715D}" vid="{EC004725-127C-4437-BBCB-7A248926F7B5}"/>
    </a:ext>
  </a:extLst>
</a:theme>
</file>

<file path=ppt/theme/theme2.xml><?xml version="1.0" encoding="utf-8"?>
<a:theme xmlns:a="http://schemas.openxmlformats.org/drawingml/2006/main" name="Terra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6">
    <wetp:webextensionref xmlns:r="http://schemas.openxmlformats.org/officeDocument/2006/relationships" r:id="rId1"/>
  </wetp:taskpane>
  <wetp:taskpane dockstate="right" visibility="0" width="70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95B48E2-660A-4CC5-B994-E5C22554145A}">
  <we:reference id="wa200005669" version="2.0.0.0" store="pt-PT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46EDA6B-E375-4357-9265-AAF1F59B46BB}">
  <we:reference id="wa200005566" version="3.0.0.2" store="pt-PT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335</TotalTime>
  <Words>1903</Words>
  <Application>Microsoft Office PowerPoint</Application>
  <PresentationFormat>Ecrã Panorâmico</PresentationFormat>
  <Paragraphs>332</Paragraphs>
  <Slides>27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dos diapositivos</vt:lpstr>
      </vt:variant>
      <vt:variant>
        <vt:i4>27</vt:i4>
      </vt:variant>
    </vt:vector>
  </HeadingPairs>
  <TitlesOfParts>
    <vt:vector size="29" baseType="lpstr">
      <vt:lpstr>AccentBoxVTI</vt:lpstr>
      <vt:lpstr>Terra</vt:lpstr>
      <vt:lpstr>Curso Técnico de Informática de Gestão Prova de Aptidão Profissional (PAP)</vt:lpstr>
      <vt:lpstr>Apresentação do PowerPoint</vt:lpstr>
      <vt:lpstr>Introdução</vt:lpstr>
      <vt:lpstr>Apresentação do PowerPoint</vt:lpstr>
      <vt:lpstr>Apresentação do PowerPoint</vt:lpstr>
      <vt:lpstr>FCT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PAP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Conclusão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Técnico de Informática de Gestão</dc:title>
  <dc:creator>Gabriel Oliveira (AGSE)</dc:creator>
  <cp:lastModifiedBy>Gabriel Oliveira (AGSE)</cp:lastModifiedBy>
  <cp:revision>49</cp:revision>
  <dcterms:created xsi:type="dcterms:W3CDTF">2026-06-26T15:21:43Z</dcterms:created>
  <dcterms:modified xsi:type="dcterms:W3CDTF">2026-06-26T15:54:00Z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